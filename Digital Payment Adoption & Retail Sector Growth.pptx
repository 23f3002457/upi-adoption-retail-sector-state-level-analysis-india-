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97" d="100"/>
          <a:sy n="97" d="100"/>
        </p:scale>
        <p:origin x="5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IT%20MADRAS\BDM%20PROJECT\BDM_Project_Workshe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IT%20MADRAS\BDM%20PROJECT\BDM_Project_Workshe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1"/>
          <c:order val="1"/>
          <c:tx>
            <c:strRef>
              <c:f>UPI_Retail_Ratio!$C$1</c:f>
              <c:strCache>
                <c:ptCount val="1"/>
                <c:pt idx="0">
                  <c:v>National Retail GSVA (Rs. in lakh)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UPI_Retail_Ratio!$A$2:$A$14</c:f>
              <c:strCache>
                <c:ptCount val="13"/>
                <c:pt idx="0">
                  <c:v>2011-12</c:v>
                </c:pt>
                <c:pt idx="1">
                  <c:v>2012-13</c:v>
                </c:pt>
                <c:pt idx="2">
                  <c:v>2013-14</c:v>
                </c:pt>
                <c:pt idx="3">
                  <c:v>2014-15</c:v>
                </c:pt>
                <c:pt idx="4">
                  <c:v>2015-16</c:v>
                </c:pt>
                <c:pt idx="5">
                  <c:v>2016-17</c:v>
                </c:pt>
                <c:pt idx="6">
                  <c:v>2017-18</c:v>
                </c:pt>
                <c:pt idx="7">
                  <c:v>2018-19</c:v>
                </c:pt>
                <c:pt idx="8">
                  <c:v>2019-20</c:v>
                </c:pt>
                <c:pt idx="9">
                  <c:v>2020-21</c:v>
                </c:pt>
                <c:pt idx="10">
                  <c:v>2021-22</c:v>
                </c:pt>
                <c:pt idx="11">
                  <c:v>2022-23</c:v>
                </c:pt>
                <c:pt idx="12">
                  <c:v>2023-24</c:v>
                </c:pt>
              </c:strCache>
            </c:strRef>
          </c:cat>
          <c:val>
            <c:numRef>
              <c:f>UPI_Retail_Ratio!$C$2:$C$14</c:f>
              <c:numCache>
                <c:formatCode>General</c:formatCode>
                <c:ptCount val="13"/>
                <c:pt idx="0">
                  <c:v>89319169.559426412</c:v>
                </c:pt>
                <c:pt idx="1">
                  <c:v>97674457.85203965</c:v>
                </c:pt>
                <c:pt idx="2">
                  <c:v>103645211.16376549</c:v>
                </c:pt>
                <c:pt idx="3">
                  <c:v>110074913.90068981</c:v>
                </c:pt>
                <c:pt idx="4">
                  <c:v>117804369.73766559</c:v>
                </c:pt>
                <c:pt idx="5">
                  <c:v>127201988.72166616</c:v>
                </c:pt>
                <c:pt idx="6">
                  <c:v>140109896.84342766</c:v>
                </c:pt>
                <c:pt idx="7">
                  <c:v>155823723.91502559</c:v>
                </c:pt>
                <c:pt idx="8">
                  <c:v>165325433.24428967</c:v>
                </c:pt>
                <c:pt idx="9">
                  <c:v>134145642.84476887</c:v>
                </c:pt>
                <c:pt idx="10">
                  <c:v>148856488.46079731</c:v>
                </c:pt>
                <c:pt idx="11">
                  <c:v>170542206.3363772</c:v>
                </c:pt>
                <c:pt idx="12">
                  <c:v>182420960.7329939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4A-4CF8-A8B5-766667188B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9847215"/>
        <c:axId val="61985297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UPI_Retail_Ratio!$B$1</c15:sqref>
                        </c15:formulaRef>
                      </c:ext>
                    </c:extLst>
                    <c:strCache>
                      <c:ptCount val="1"/>
                      <c:pt idx="0">
                        <c:v>UPI Value (in Cr.)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UPI_Retail_Ratio!$A$2:$A$14</c15:sqref>
                        </c15:formulaRef>
                      </c:ext>
                    </c:extLst>
                    <c:strCache>
                      <c:ptCount val="13"/>
                      <c:pt idx="0">
                        <c:v>2011-12</c:v>
                      </c:pt>
                      <c:pt idx="1">
                        <c:v>2012-13</c:v>
                      </c:pt>
                      <c:pt idx="2">
                        <c:v>2013-14</c:v>
                      </c:pt>
                      <c:pt idx="3">
                        <c:v>2014-15</c:v>
                      </c:pt>
                      <c:pt idx="4">
                        <c:v>2015-16</c:v>
                      </c:pt>
                      <c:pt idx="5">
                        <c:v>2016-17</c:v>
                      </c:pt>
                      <c:pt idx="6">
                        <c:v>2017-18</c:v>
                      </c:pt>
                      <c:pt idx="7">
                        <c:v>2018-19</c:v>
                      </c:pt>
                      <c:pt idx="8">
                        <c:v>2019-20</c:v>
                      </c:pt>
                      <c:pt idx="9">
                        <c:v>2020-21</c:v>
                      </c:pt>
                      <c:pt idx="10">
                        <c:v>2021-22</c:v>
                      </c:pt>
                      <c:pt idx="11">
                        <c:v>2022-23</c:v>
                      </c:pt>
                      <c:pt idx="12">
                        <c:v>2023-24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UPI_Retail_Ratio!$B$2:$B$14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6952.1399999999994</c:v>
                      </c:pt>
                      <c:pt idx="6">
                        <c:v>109831.79999999999</c:v>
                      </c:pt>
                      <c:pt idx="7">
                        <c:v>876970.72000000009</c:v>
                      </c:pt>
                      <c:pt idx="8">
                        <c:v>2131730.14</c:v>
                      </c:pt>
                      <c:pt idx="9">
                        <c:v>4103653.5799999996</c:v>
                      </c:pt>
                      <c:pt idx="10">
                        <c:v>8417572.4800000004</c:v>
                      </c:pt>
                      <c:pt idx="11">
                        <c:v>13920676.35</c:v>
                      </c:pt>
                      <c:pt idx="12">
                        <c:v>19995085.510000002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DB4A-4CF8-A8B5-766667188B6B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UPI_Retail_Ratio!$D$1</c15:sqref>
                        </c15:formulaRef>
                      </c:ext>
                    </c:extLst>
                    <c:strCache>
                      <c:ptCount val="1"/>
                      <c:pt idx="0">
                        <c:v>UPI Share %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UPI_Retail_Ratio!$A$2:$A$14</c15:sqref>
                        </c15:formulaRef>
                      </c:ext>
                    </c:extLst>
                    <c:strCache>
                      <c:ptCount val="13"/>
                      <c:pt idx="0">
                        <c:v>2011-12</c:v>
                      </c:pt>
                      <c:pt idx="1">
                        <c:v>2012-13</c:v>
                      </c:pt>
                      <c:pt idx="2">
                        <c:v>2013-14</c:v>
                      </c:pt>
                      <c:pt idx="3">
                        <c:v>2014-15</c:v>
                      </c:pt>
                      <c:pt idx="4">
                        <c:v>2015-16</c:v>
                      </c:pt>
                      <c:pt idx="5">
                        <c:v>2016-17</c:v>
                      </c:pt>
                      <c:pt idx="6">
                        <c:v>2017-18</c:v>
                      </c:pt>
                      <c:pt idx="7">
                        <c:v>2018-19</c:v>
                      </c:pt>
                      <c:pt idx="8">
                        <c:v>2019-20</c:v>
                      </c:pt>
                      <c:pt idx="9">
                        <c:v>2020-21</c:v>
                      </c:pt>
                      <c:pt idx="10">
                        <c:v>2021-22</c:v>
                      </c:pt>
                      <c:pt idx="11">
                        <c:v>2022-23</c:v>
                      </c:pt>
                      <c:pt idx="12">
                        <c:v>2023-24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UPI_Retail_Ratio!$D$2:$D$14</c15:sqref>
                        </c15:formulaRef>
                      </c:ext>
                    </c:extLst>
                    <c:numCache>
                      <c:formatCode>0.00000000%</c:formatCode>
                      <c:ptCount val="13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5.4654334180357434E-5</c:v>
                      </c:pt>
                      <c:pt idx="6">
                        <c:v>7.8389751526786622E-4</c:v>
                      </c:pt>
                      <c:pt idx="7">
                        <c:v>5.6279666405497615E-3</c:v>
                      </c:pt>
                      <c:pt idx="8">
                        <c:v>1.2894145190898086E-2</c:v>
                      </c:pt>
                      <c:pt idx="9">
                        <c:v>3.0591031456375217E-2</c:v>
                      </c:pt>
                      <c:pt idx="10">
                        <c:v>5.6548240302046651E-2</c:v>
                      </c:pt>
                      <c:pt idx="11">
                        <c:v>8.162598953682397E-2</c:v>
                      </c:pt>
                      <c:pt idx="12">
                        <c:v>0.10960958340344687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DB4A-4CF8-A8B5-766667188B6B}"/>
                  </c:ext>
                </c:extLst>
              </c15:ser>
            </c15:filteredLineSeries>
          </c:ext>
        </c:extLst>
      </c:lineChart>
      <c:catAx>
        <c:axId val="6198472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aseline="0"/>
                  <a:t>Year</a:t>
                </a:r>
              </a:p>
            </c:rich>
          </c:tx>
          <c:layout>
            <c:manualLayout>
              <c:xMode val="edge"/>
              <c:yMode val="edge"/>
              <c:x val="0.47248443083516473"/>
              <c:y val="0.922278049212118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9852975"/>
        <c:crosses val="autoZero"/>
        <c:auto val="1"/>
        <c:lblAlgn val="ctr"/>
        <c:lblOffset val="100"/>
        <c:noMultiLvlLbl val="0"/>
      </c:catAx>
      <c:valAx>
        <c:axId val="619852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i="0" u="none" strike="noStrike" baseline="0">
                    <a:effectLst/>
                  </a:rPr>
                  <a:t>National Retail GSVA (Rs. in lakj.)</a:t>
                </a:r>
                <a:r>
                  <a:rPr lang="en-US" sz="1000" b="0" i="0" u="none" strike="noStrike" baseline="0">
                    <a:effectLst/>
                  </a:rPr>
                  <a:t> 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98472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10 States by Retail GSVA (2023-24)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'REATIL GSVA WORK'!$E$5</c:f>
              <c:strCache>
                <c:ptCount val="1"/>
                <c:pt idx="0">
                  <c:v>2023-24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'REATIL GSVA WORK'!$C$6:$C$16</c:f>
              <c:strCache>
                <c:ptCount val="11"/>
                <c:pt idx="1">
                  <c:v>Maharashtra</c:v>
                </c:pt>
                <c:pt idx="2">
                  <c:v>Gujarat</c:v>
                </c:pt>
                <c:pt idx="3">
                  <c:v>Tamil Nadu</c:v>
                </c:pt>
                <c:pt idx="4">
                  <c:v>Uttar Pradesh</c:v>
                </c:pt>
                <c:pt idx="5">
                  <c:v>Karnataka</c:v>
                </c:pt>
                <c:pt idx="6">
                  <c:v>West Bengal</c:v>
                </c:pt>
                <c:pt idx="7">
                  <c:v>Telangana</c:v>
                </c:pt>
                <c:pt idx="8">
                  <c:v>Kerala</c:v>
                </c:pt>
                <c:pt idx="9">
                  <c:v>Rajasthan</c:v>
                </c:pt>
                <c:pt idx="10">
                  <c:v>Haryana</c:v>
                </c:pt>
              </c:strCache>
            </c:strRef>
          </c:cat>
          <c:val>
            <c:numRef>
              <c:f>'REATIL GSVA WORK'!$E$6:$E$16</c:f>
              <c:numCache>
                <c:formatCode>General</c:formatCode>
                <c:ptCount val="11"/>
                <c:pt idx="1">
                  <c:v>17628320.704196434</c:v>
                </c:pt>
                <c:pt idx="2">
                  <c:v>17034178.898538545</c:v>
                </c:pt>
                <c:pt idx="3">
                  <c:v>15904885.909450067</c:v>
                </c:pt>
                <c:pt idx="4">
                  <c:v>13357207</c:v>
                </c:pt>
                <c:pt idx="5">
                  <c:v>12975635.648943339</c:v>
                </c:pt>
                <c:pt idx="6">
                  <c:v>12796876.482000001</c:v>
                </c:pt>
                <c:pt idx="7">
                  <c:v>11532258.735939445</c:v>
                </c:pt>
                <c:pt idx="8">
                  <c:v>10329246.319483049</c:v>
                </c:pt>
                <c:pt idx="9">
                  <c:v>9626058.6894186288</c:v>
                </c:pt>
                <c:pt idx="10">
                  <c:v>8077333.1398421843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61-4CE1-9562-5A123B6E1D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117967"/>
        <c:axId val="878104527"/>
      </c:barChart>
      <c:catAx>
        <c:axId val="8781179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STATES</a:t>
                </a:r>
                <a:r>
                  <a:rPr lang="en-US" baseline="0"/>
                  <a:t> (Top 10)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8104527"/>
        <c:crosses val="autoZero"/>
        <c:auto val="1"/>
        <c:lblAlgn val="ctr"/>
        <c:lblOffset val="100"/>
        <c:noMultiLvlLbl val="0"/>
      </c:catAx>
      <c:valAx>
        <c:axId val="878104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Retail</a:t>
                </a:r>
                <a:r>
                  <a:rPr lang="en-US" baseline="0"/>
                  <a:t> GSVA (Rs. in lakh)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81179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UPI_National_Fin_Annual!$B$1</c:f>
              <c:strCache>
                <c:ptCount val="1"/>
                <c:pt idx="0">
                  <c:v>ANNUAL TRANSACTIONS (in Mn.)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UPI_National_Fin_Annual!$A$2:$A$10</c:f>
              <c:strCache>
                <c:ptCount val="9"/>
                <c:pt idx="0">
                  <c:v>2016-17</c:v>
                </c:pt>
                <c:pt idx="1">
                  <c:v>2017-18</c:v>
                </c:pt>
                <c:pt idx="2">
                  <c:v>2018-19</c:v>
                </c:pt>
                <c:pt idx="3">
                  <c:v>2019-20</c:v>
                </c:pt>
                <c:pt idx="4">
                  <c:v>2020-21</c:v>
                </c:pt>
                <c:pt idx="5">
                  <c:v>2021-22</c:v>
                </c:pt>
                <c:pt idx="6">
                  <c:v>2022-23</c:v>
                </c:pt>
                <c:pt idx="7">
                  <c:v>2023-24</c:v>
                </c:pt>
                <c:pt idx="8">
                  <c:v>2024-25</c:v>
                </c:pt>
              </c:strCache>
            </c:strRef>
          </c:cat>
          <c:val>
            <c:numRef>
              <c:f>UPI_National_Fin_Annual!$B$2:$B$10</c:f>
              <c:numCache>
                <c:formatCode>General</c:formatCode>
                <c:ptCount val="9"/>
                <c:pt idx="0">
                  <c:v>17.86</c:v>
                </c:pt>
                <c:pt idx="1">
                  <c:v>915.22</c:v>
                </c:pt>
                <c:pt idx="2">
                  <c:v>5391.52</c:v>
                </c:pt>
                <c:pt idx="3">
                  <c:v>12518.61</c:v>
                </c:pt>
                <c:pt idx="4">
                  <c:v>22330.65</c:v>
                </c:pt>
                <c:pt idx="5">
                  <c:v>45967.53</c:v>
                </c:pt>
                <c:pt idx="6">
                  <c:v>83751.14</c:v>
                </c:pt>
                <c:pt idx="7">
                  <c:v>131129.83000000002</c:v>
                </c:pt>
                <c:pt idx="8">
                  <c:v>185866.02000000002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B9-4603-9D1A-9D11B443C3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58864495"/>
        <c:axId val="1158864975"/>
      </c:lineChart>
      <c:catAx>
        <c:axId val="11588644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864975"/>
        <c:crosses val="autoZero"/>
        <c:auto val="1"/>
        <c:lblAlgn val="ctr"/>
        <c:lblOffset val="100"/>
        <c:noMultiLvlLbl val="0"/>
      </c:catAx>
      <c:valAx>
        <c:axId val="1158864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TRANSACTIONS</a:t>
                </a:r>
                <a:r>
                  <a:rPr lang="en-US" baseline="0"/>
                  <a:t> (in Mn.)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864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UPI_National_Fin_Annual!$C$1</c:f>
              <c:strCache>
                <c:ptCount val="1"/>
                <c:pt idx="0">
                  <c:v>ANNUAL VALUE (Rs. in Cr.)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UPI_National_Fin_Annual!$A$2:$A$10</c:f>
              <c:strCache>
                <c:ptCount val="9"/>
                <c:pt idx="0">
                  <c:v>2016-17</c:v>
                </c:pt>
                <c:pt idx="1">
                  <c:v>2017-18</c:v>
                </c:pt>
                <c:pt idx="2">
                  <c:v>2018-19</c:v>
                </c:pt>
                <c:pt idx="3">
                  <c:v>2019-20</c:v>
                </c:pt>
                <c:pt idx="4">
                  <c:v>2020-21</c:v>
                </c:pt>
                <c:pt idx="5">
                  <c:v>2021-22</c:v>
                </c:pt>
                <c:pt idx="6">
                  <c:v>2022-23</c:v>
                </c:pt>
                <c:pt idx="7">
                  <c:v>2023-24</c:v>
                </c:pt>
                <c:pt idx="8">
                  <c:v>2024-25</c:v>
                </c:pt>
              </c:strCache>
            </c:strRef>
          </c:cat>
          <c:val>
            <c:numRef>
              <c:f>UPI_National_Fin_Annual!$C$2:$C$10</c:f>
              <c:numCache>
                <c:formatCode>General</c:formatCode>
                <c:ptCount val="9"/>
                <c:pt idx="0">
                  <c:v>6952.1399999999994</c:v>
                </c:pt>
                <c:pt idx="1">
                  <c:v>109831.79999999999</c:v>
                </c:pt>
                <c:pt idx="2">
                  <c:v>876970.72000000009</c:v>
                </c:pt>
                <c:pt idx="3">
                  <c:v>2131730.14</c:v>
                </c:pt>
                <c:pt idx="4">
                  <c:v>4103653.5799999996</c:v>
                </c:pt>
                <c:pt idx="5">
                  <c:v>8417572.4800000004</c:v>
                </c:pt>
                <c:pt idx="6">
                  <c:v>13920676.35</c:v>
                </c:pt>
                <c:pt idx="7">
                  <c:v>19995085.510000002</c:v>
                </c:pt>
                <c:pt idx="8">
                  <c:v>26056954.650000006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23-45BA-BE92-A86A58F0AA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3283695"/>
        <c:axId val="1113282735"/>
      </c:lineChart>
      <c:catAx>
        <c:axId val="11132836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3282735"/>
        <c:crosses val="autoZero"/>
        <c:auto val="1"/>
        <c:lblAlgn val="ctr"/>
        <c:lblOffset val="100"/>
        <c:noMultiLvlLbl val="0"/>
      </c:catAx>
      <c:valAx>
        <c:axId val="1113282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VALUE</a:t>
                </a:r>
                <a:r>
                  <a:rPr lang="en-US" baseline="0"/>
                  <a:t> (in Cr.)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32836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State-Wise Retail Annual GSVA Growth 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4377440529877341E-2"/>
          <c:y val="5.8711343321560874E-2"/>
          <c:w val="0.92541105977068017"/>
          <c:h val="0.898834666454194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'REATIL GSVA WORK'!$H$5</c:f>
              <c:strCache>
                <c:ptCount val="1"/>
                <c:pt idx="0">
                  <c:v>Growth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'REATIL GSVA WORK'!$C$7:$C$39</c:f>
              <c:strCache>
                <c:ptCount val="33"/>
                <c:pt idx="0">
                  <c:v>Maharashtra</c:v>
                </c:pt>
                <c:pt idx="1">
                  <c:v>Gujarat</c:v>
                </c:pt>
                <c:pt idx="2">
                  <c:v>Tamil Nadu</c:v>
                </c:pt>
                <c:pt idx="3">
                  <c:v>Uttar Pradesh</c:v>
                </c:pt>
                <c:pt idx="4">
                  <c:v>Karnataka</c:v>
                </c:pt>
                <c:pt idx="5">
                  <c:v>West Bengal</c:v>
                </c:pt>
                <c:pt idx="6">
                  <c:v>Telangana</c:v>
                </c:pt>
                <c:pt idx="7">
                  <c:v>Kerala</c:v>
                </c:pt>
                <c:pt idx="8">
                  <c:v>Rajasthan</c:v>
                </c:pt>
                <c:pt idx="9">
                  <c:v>Haryana</c:v>
                </c:pt>
                <c:pt idx="10">
                  <c:v>Delhi</c:v>
                </c:pt>
                <c:pt idx="11">
                  <c:v>Madhya Pradesh</c:v>
                </c:pt>
                <c:pt idx="12">
                  <c:v>Bihar</c:v>
                </c:pt>
                <c:pt idx="13">
                  <c:v>Andhra Pradesh</c:v>
                </c:pt>
                <c:pt idx="14">
                  <c:v>Punjab</c:v>
                </c:pt>
                <c:pt idx="15">
                  <c:v>Odisha</c:v>
                </c:pt>
                <c:pt idx="16">
                  <c:v>Uttarakhand</c:v>
                </c:pt>
                <c:pt idx="17">
                  <c:v>Jharkhand</c:v>
                </c:pt>
                <c:pt idx="18">
                  <c:v>Assam</c:v>
                </c:pt>
                <c:pt idx="19">
                  <c:v>Chhattisgarh</c:v>
                </c:pt>
                <c:pt idx="20">
                  <c:v>Chandigarh</c:v>
                </c:pt>
                <c:pt idx="21">
                  <c:v>Jammu &amp; Kashmir</c:v>
                </c:pt>
                <c:pt idx="22">
                  <c:v>Himachal Pradesh</c:v>
                </c:pt>
                <c:pt idx="23">
                  <c:v>Meghalaya</c:v>
                </c:pt>
                <c:pt idx="24">
                  <c:v>Tripura</c:v>
                </c:pt>
                <c:pt idx="25">
                  <c:v>Goa</c:v>
                </c:pt>
                <c:pt idx="26">
                  <c:v>Mizoram</c:v>
                </c:pt>
                <c:pt idx="27">
                  <c:v>Manipur</c:v>
                </c:pt>
                <c:pt idx="28">
                  <c:v>Nagaland</c:v>
                </c:pt>
                <c:pt idx="29">
                  <c:v>Sikkim</c:v>
                </c:pt>
                <c:pt idx="30">
                  <c:v>Puducherry</c:v>
                </c:pt>
                <c:pt idx="31">
                  <c:v>Andaman &amp; Nicobar</c:v>
                </c:pt>
                <c:pt idx="32">
                  <c:v>Arunachal Pradesh</c:v>
                </c:pt>
              </c:strCache>
            </c:strRef>
          </c:cat>
          <c:val>
            <c:numRef>
              <c:f>'REATIL GSVA WORK'!$H$7:$H$39</c:f>
              <c:numCache>
                <c:formatCode>General</c:formatCode>
                <c:ptCount val="33"/>
                <c:pt idx="0">
                  <c:v>66.920432755976009</c:v>
                </c:pt>
                <c:pt idx="1">
                  <c:v>156.29195938083629</c:v>
                </c:pt>
                <c:pt idx="2">
                  <c:v>100.56049083795666</c:v>
                </c:pt>
                <c:pt idx="3">
                  <c:v>92.284419180272039</c:v>
                </c:pt>
                <c:pt idx="4">
                  <c:v>114.67319323800726</c:v>
                </c:pt>
                <c:pt idx="5">
                  <c:v>88.304779782666799</c:v>
                </c:pt>
                <c:pt idx="6">
                  <c:v>207.70635397068756</c:v>
                </c:pt>
                <c:pt idx="7">
                  <c:v>94.097033790814081</c:v>
                </c:pt>
                <c:pt idx="8">
                  <c:v>120.04303730192041</c:v>
                </c:pt>
                <c:pt idx="9">
                  <c:v>143.97352836499513</c:v>
                </c:pt>
                <c:pt idx="10">
                  <c:v>89.148375713468681</c:v>
                </c:pt>
                <c:pt idx="11">
                  <c:v>94.146380442358307</c:v>
                </c:pt>
                <c:pt idx="12">
                  <c:v>48.865683990722161</c:v>
                </c:pt>
                <c:pt idx="13">
                  <c:v>139.60041532588758</c:v>
                </c:pt>
                <c:pt idx="14">
                  <c:v>87.742491064152858</c:v>
                </c:pt>
                <c:pt idx="15">
                  <c:v>99.187057361591542</c:v>
                </c:pt>
                <c:pt idx="16">
                  <c:v>165.94145675733677</c:v>
                </c:pt>
                <c:pt idx="17">
                  <c:v>170.19883816505416</c:v>
                </c:pt>
                <c:pt idx="18">
                  <c:v>7.7246759468375812</c:v>
                </c:pt>
                <c:pt idx="19">
                  <c:v>110.38379098815483</c:v>
                </c:pt>
                <c:pt idx="20">
                  <c:v>85.716472300833374</c:v>
                </c:pt>
                <c:pt idx="21">
                  <c:v>67.14355213674655</c:v>
                </c:pt>
                <c:pt idx="22">
                  <c:v>137.97396217232</c:v>
                </c:pt>
                <c:pt idx="23">
                  <c:v>157.15166727234254</c:v>
                </c:pt>
                <c:pt idx="24">
                  <c:v>144.46149030810398</c:v>
                </c:pt>
                <c:pt idx="25">
                  <c:v>87.898669337530862</c:v>
                </c:pt>
                <c:pt idx="26">
                  <c:v>408.53545224982281</c:v>
                </c:pt>
                <c:pt idx="27">
                  <c:v>115.67657398529883</c:v>
                </c:pt>
                <c:pt idx="28">
                  <c:v>69.344312249978586</c:v>
                </c:pt>
                <c:pt idx="29">
                  <c:v>458.41298136597277</c:v>
                </c:pt>
                <c:pt idx="30">
                  <c:v>-4.2123781772724633E-2</c:v>
                </c:pt>
                <c:pt idx="31">
                  <c:v>164.99139198165514</c:v>
                </c:pt>
                <c:pt idx="32">
                  <c:v>5.7532585932184546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C2-4901-A896-C60256290A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42020847"/>
        <c:axId val="742015087"/>
      </c:barChart>
      <c:catAx>
        <c:axId val="74202084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States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2015087"/>
        <c:crosses val="autoZero"/>
        <c:auto val="1"/>
        <c:lblAlgn val="ctr"/>
        <c:lblOffset val="100"/>
        <c:noMultiLvlLbl val="0"/>
      </c:catAx>
      <c:valAx>
        <c:axId val="7420150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Growth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20208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4CF4-DEF7-4775-97F0-1AD42C5ADB37}" type="datetimeFigureOut">
              <a:rPr lang="en-US" smtClean="0"/>
              <a:t>22-02-26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9C-7CE7-445F-9499-5BC8634AA91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777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4CF4-DEF7-4775-97F0-1AD42C5ADB37}" type="datetimeFigureOut">
              <a:rPr lang="en-US" smtClean="0"/>
              <a:t>22-02-26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9C-7CE7-445F-9499-5BC8634A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59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4CF4-DEF7-4775-97F0-1AD42C5ADB37}" type="datetimeFigureOut">
              <a:rPr lang="en-US" smtClean="0"/>
              <a:t>22-02-26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9C-7CE7-445F-9499-5BC8634AA91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459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4CF4-DEF7-4775-97F0-1AD42C5ADB37}" type="datetimeFigureOut">
              <a:rPr lang="en-US" smtClean="0"/>
              <a:t>22-02-26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9C-7CE7-445F-9499-5BC8634A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86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4CF4-DEF7-4775-97F0-1AD42C5ADB37}" type="datetimeFigureOut">
              <a:rPr lang="en-US" smtClean="0"/>
              <a:t>22-02-26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9C-7CE7-445F-9499-5BC8634A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6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4CF4-DEF7-4775-97F0-1AD42C5ADB37}" type="datetimeFigureOut">
              <a:rPr lang="en-US" smtClean="0"/>
              <a:t>22-02-26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9C-7CE7-445F-9499-5BC8634A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4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4CF4-DEF7-4775-97F0-1AD42C5ADB37}" type="datetimeFigureOut">
              <a:rPr lang="en-US" smtClean="0"/>
              <a:t>22-02-26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9C-7CE7-445F-9499-5BC8634A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95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C054CF4-DEF7-4775-97F0-1AD42C5ADB37}" type="datetimeFigureOut">
              <a:rPr lang="en-US" smtClean="0"/>
              <a:t>22-02-26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BDD19C-7CE7-445F-9499-5BC8634A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5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4CF4-DEF7-4775-97F0-1AD42C5ADB37}" type="datetimeFigureOut">
              <a:rPr lang="en-US" smtClean="0"/>
              <a:t>22-02-26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9C-7CE7-445F-9499-5BC8634A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522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4CF4-DEF7-4775-97F0-1AD42C5ADB37}" type="datetimeFigureOut">
              <a:rPr lang="en-US" smtClean="0"/>
              <a:t>22-02-26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9C-7CE7-445F-9499-5BC8634A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539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4CF4-DEF7-4775-97F0-1AD42C5ADB37}" type="datetimeFigureOut">
              <a:rPr lang="en-US" smtClean="0"/>
              <a:t>22-02-26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9C-7CE7-445F-9499-5BC8634A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209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C054CF4-DEF7-4775-97F0-1AD42C5ADB37}" type="datetimeFigureOut">
              <a:rPr lang="en-US" smtClean="0"/>
              <a:t>22-02-26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BDD19C-7CE7-445F-9499-5BC8634AA91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140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0C2D-96D2-E2C5-3CD2-9A6DB01115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Digital Payment Adoption &amp; Retail Sector Growth: State Level UPI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619A53-01E5-C110-1F1B-B3987BD4A9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By Aman Sachin Kujur</a:t>
            </a:r>
          </a:p>
          <a:p>
            <a:r>
              <a:rPr lang="en-US" dirty="0"/>
              <a:t>BS in Data science &amp; applications (23f3002457)</a:t>
            </a:r>
          </a:p>
          <a:p>
            <a:r>
              <a:rPr lang="en-US" dirty="0"/>
              <a:t>Indian Institute of Technology, Madras, Chennai </a:t>
            </a:r>
          </a:p>
        </p:txBody>
      </p:sp>
    </p:spTree>
    <p:extLst>
      <p:ext uri="{BB962C8B-B14F-4D97-AF65-F5344CB8AC3E}">
        <p14:creationId xmlns:p14="http://schemas.microsoft.com/office/powerpoint/2010/main" val="1294832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BC7F9-599E-EF85-4000-E4629E6AE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OF THE 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ADF932-BB68-A0D7-3F2C-6056411C5B2E}"/>
              </a:ext>
            </a:extLst>
          </p:cNvPr>
          <p:cNvSpPr txBox="1"/>
          <p:nvPr/>
        </p:nvSpPr>
        <p:spPr>
          <a:xfrm>
            <a:off x="1097280" y="1971305"/>
            <a:ext cx="966651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Background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UPI adoption in India has increased rapidly after 2016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Retail sector growth differs significantly across states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Not all high-UPI states show high retail growth</a:t>
            </a:r>
          </a:p>
          <a:p>
            <a:pPr>
              <a:buNone/>
            </a:pPr>
            <a:r>
              <a:rPr lang="en-US" sz="2000" b="1" dirty="0"/>
              <a:t>Problem</a:t>
            </a: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dirty="0"/>
              <a:t>Does higher digital payment usage actually improve retail sector growth?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Which states show retail growth but low digital payment usage?</a:t>
            </a:r>
          </a:p>
          <a:p>
            <a:pPr>
              <a:buNone/>
            </a:pPr>
            <a:r>
              <a:rPr lang="en-US" sz="2000" b="1" dirty="0"/>
              <a:t>Objectives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Measure relationship between UPI transaction intensity and Retail GSVA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Identify states with untapped digital payment potential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Classify states based on growth, size, and digital payment usage</a:t>
            </a:r>
          </a:p>
        </p:txBody>
      </p:sp>
    </p:spTree>
    <p:extLst>
      <p:ext uri="{BB962C8B-B14F-4D97-AF65-F5344CB8AC3E}">
        <p14:creationId xmlns:p14="http://schemas.microsoft.com/office/powerpoint/2010/main" val="3400035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8912D-19D3-DC51-E706-7F0C94D0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 &amp; Dataset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E1973-8B52-6355-D71A-976D5559E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264049" cy="4023360"/>
          </a:xfrm>
        </p:spPr>
        <p:txBody>
          <a:bodyPr>
            <a:normAutofit fontScale="77500" lnSpcReduction="20000"/>
          </a:bodyPr>
          <a:lstStyle/>
          <a:p>
            <a:r>
              <a:rPr lang="en-US" sz="2400" b="1" i="1" dirty="0"/>
              <a:t>Data Sources</a:t>
            </a:r>
          </a:p>
          <a:p>
            <a:r>
              <a:rPr lang="en-US" b="1" u="sng" dirty="0"/>
              <a:t>Retail Sector Output</a:t>
            </a:r>
            <a:endParaRPr lang="en-US" u="sng" dirty="0"/>
          </a:p>
          <a:p>
            <a:r>
              <a:rPr lang="en-US" sz="2100" dirty="0">
                <a:solidFill>
                  <a:schemeClr val="tx1"/>
                </a:solidFill>
              </a:rPr>
              <a:t>Source: Ministry of Statistics and </a:t>
            </a:r>
            <a:r>
              <a:rPr lang="en-US" sz="2100" dirty="0" err="1">
                <a:solidFill>
                  <a:schemeClr val="tx1"/>
                </a:solidFill>
              </a:rPr>
              <a:t>Programme</a:t>
            </a:r>
            <a:r>
              <a:rPr lang="en-US" sz="2100" dirty="0">
                <a:solidFill>
                  <a:schemeClr val="tx1"/>
                </a:solidFill>
              </a:rPr>
              <a:t> Implementation (</a:t>
            </a:r>
            <a:r>
              <a:rPr lang="en-US" sz="2100" dirty="0" err="1">
                <a:solidFill>
                  <a:schemeClr val="tx1"/>
                </a:solidFill>
              </a:rPr>
              <a:t>MoSPI</a:t>
            </a:r>
            <a:r>
              <a:rPr lang="en-US" sz="2100" dirty="0">
                <a:solidFill>
                  <a:schemeClr val="tx1"/>
                </a:solidFill>
              </a:rPr>
              <a:t>)</a:t>
            </a:r>
          </a:p>
          <a:p>
            <a:r>
              <a:rPr lang="en-US" sz="2100" dirty="0">
                <a:solidFill>
                  <a:schemeClr val="tx1"/>
                </a:solidFill>
              </a:rPr>
              <a:t>Sector: Trade, Repair, Hotels &amp; Restaurants (Retail sector)</a:t>
            </a:r>
          </a:p>
          <a:p>
            <a:r>
              <a:rPr lang="en-US" sz="2100" dirty="0">
                <a:solidFill>
                  <a:schemeClr val="tx1"/>
                </a:solidFill>
              </a:rPr>
              <a:t>Coverage: State-wise</a:t>
            </a:r>
          </a:p>
          <a:p>
            <a:r>
              <a:rPr lang="en-US" sz="2100" dirty="0">
                <a:solidFill>
                  <a:schemeClr val="tx1"/>
                </a:solidFill>
              </a:rPr>
              <a:t>Period: FY 2011-12 to FY 2023-24</a:t>
            </a:r>
          </a:p>
          <a:p>
            <a:r>
              <a:rPr lang="en-US" b="1" u="sng" dirty="0"/>
              <a:t>Digital Payments</a:t>
            </a:r>
            <a:endParaRPr lang="en-US" u="sng" dirty="0"/>
          </a:p>
          <a:p>
            <a:r>
              <a:rPr lang="en-US" sz="2300" dirty="0">
                <a:solidFill>
                  <a:schemeClr val="tx1"/>
                </a:solidFill>
              </a:rPr>
              <a:t>Source: National Payments Corporation of India (NPCI)</a:t>
            </a:r>
          </a:p>
          <a:p>
            <a:r>
              <a:rPr lang="en-US" sz="2300" dirty="0">
                <a:solidFill>
                  <a:schemeClr val="tx1"/>
                </a:solidFill>
              </a:rPr>
              <a:t>National monthly UPI transactions (Volume &amp; Value) — 2016 onwards</a:t>
            </a:r>
          </a:p>
          <a:p>
            <a:r>
              <a:rPr lang="en-US" sz="2300" dirty="0">
                <a:solidFill>
                  <a:schemeClr val="tx1"/>
                </a:solidFill>
              </a:rPr>
              <a:t>State-wise UPI transaction value — FY 2023-24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D57518-165F-8AB2-6F5C-7C1ADE3C3737}"/>
              </a:ext>
            </a:extLst>
          </p:cNvPr>
          <p:cNvSpPr txBox="1"/>
          <p:nvPr/>
        </p:nvSpPr>
        <p:spPr>
          <a:xfrm>
            <a:off x="6361329" y="2103412"/>
            <a:ext cx="609490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Key Variables Constructed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Retail GSVA (₹)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Absolute GSVA Increase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GSVA Growth 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UPI Transaction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UPI Share (% of national total)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u="sng" dirty="0"/>
              <a:t>Data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Monthly UPI aggregated → Financial year totals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State names standardized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States with missing GSVA excluded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Units converted to common monetary scale</a:t>
            </a:r>
          </a:p>
        </p:txBody>
      </p:sp>
    </p:spTree>
    <p:extLst>
      <p:ext uri="{BB962C8B-B14F-4D97-AF65-F5344CB8AC3E}">
        <p14:creationId xmlns:p14="http://schemas.microsoft.com/office/powerpoint/2010/main" val="90479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C953C-FB82-365E-AB87-E847B1F57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Statistics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6DAA440-268A-E551-039C-192955B1FA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4141627"/>
              </p:ext>
            </p:extLst>
          </p:nvPr>
        </p:nvGraphicFramePr>
        <p:xfrm>
          <a:off x="1096963" y="1846263"/>
          <a:ext cx="9882418" cy="3337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1774">
                  <a:extLst>
                    <a:ext uri="{9D8B030D-6E8A-4147-A177-3AD203B41FA5}">
                      <a16:colId xmlns:a16="http://schemas.microsoft.com/office/drawing/2014/main" val="1903262837"/>
                    </a:ext>
                  </a:extLst>
                </a:gridCol>
                <a:gridCol w="1411774">
                  <a:extLst>
                    <a:ext uri="{9D8B030D-6E8A-4147-A177-3AD203B41FA5}">
                      <a16:colId xmlns:a16="http://schemas.microsoft.com/office/drawing/2014/main" val="2011558045"/>
                    </a:ext>
                  </a:extLst>
                </a:gridCol>
                <a:gridCol w="1411774">
                  <a:extLst>
                    <a:ext uri="{9D8B030D-6E8A-4147-A177-3AD203B41FA5}">
                      <a16:colId xmlns:a16="http://schemas.microsoft.com/office/drawing/2014/main" val="920780418"/>
                    </a:ext>
                  </a:extLst>
                </a:gridCol>
                <a:gridCol w="1411774">
                  <a:extLst>
                    <a:ext uri="{9D8B030D-6E8A-4147-A177-3AD203B41FA5}">
                      <a16:colId xmlns:a16="http://schemas.microsoft.com/office/drawing/2014/main" val="262716988"/>
                    </a:ext>
                  </a:extLst>
                </a:gridCol>
                <a:gridCol w="1411774">
                  <a:extLst>
                    <a:ext uri="{9D8B030D-6E8A-4147-A177-3AD203B41FA5}">
                      <a16:colId xmlns:a16="http://schemas.microsoft.com/office/drawing/2014/main" val="283579931"/>
                    </a:ext>
                  </a:extLst>
                </a:gridCol>
                <a:gridCol w="1411774">
                  <a:extLst>
                    <a:ext uri="{9D8B030D-6E8A-4147-A177-3AD203B41FA5}">
                      <a16:colId xmlns:a16="http://schemas.microsoft.com/office/drawing/2014/main" val="1253788028"/>
                    </a:ext>
                  </a:extLst>
                </a:gridCol>
                <a:gridCol w="1411774">
                  <a:extLst>
                    <a:ext uri="{9D8B030D-6E8A-4147-A177-3AD203B41FA5}">
                      <a16:colId xmlns:a16="http://schemas.microsoft.com/office/drawing/2014/main" val="2445550558"/>
                    </a:ext>
                  </a:extLst>
                </a:gridCol>
              </a:tblGrid>
              <a:tr h="435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Std. Dev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Minimum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Maximum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IQR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927662"/>
                  </a:ext>
                </a:extLst>
              </a:tr>
              <a:tr h="752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Retail GSVA (2023-24)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5,527,907.90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3,172,405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5,635,979.82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63,337.74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17,628,320.70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9,071,524.69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342180"/>
                  </a:ext>
                </a:extLst>
              </a:tr>
              <a:tr h="752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GSVA Growth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124.27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93.15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458.41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56.72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4162353"/>
                  </a:ext>
                </a:extLst>
              </a:tr>
              <a:tr h="1397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UPI Transaction Value (2023-24)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457,993.38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182,326.64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648,364.55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360.02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3,168,886.74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689,721.99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917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318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F2617-AFFD-6DAA-64B2-DAA5B5900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96" y="283467"/>
            <a:ext cx="10058400" cy="1450757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BD2591-3760-0A71-90A6-6A3259CB19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2955" y="1970724"/>
                <a:ext cx="5493525" cy="402336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1. Retail Growth Measurement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Absolute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 i="1"/>
                      <m:t>Increase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𝐺𝑆𝑉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2023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24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𝐺𝑆𝑉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2011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b="1" dirty="0"/>
                  <a:t>2. Retail GSVA Growth Percentage </a:t>
                </a:r>
                <a:r>
                  <a:rPr lang="en-US" dirty="0"/>
                  <a:t>Growth % = [(GSVA (2023–24) − GSVA (2011–12)) / GSVA (2011–12)] × 100 </a:t>
                </a:r>
              </a:p>
              <a:p>
                <a:endParaRPr lang="en-US" dirty="0"/>
              </a:p>
              <a:p>
                <a:r>
                  <a:rPr lang="en-US" b="1" dirty="0"/>
                  <a:t>3. Size Classification (Percentile Based)</a:t>
                </a:r>
              </a:p>
              <a:p>
                <a:r>
                  <a:rPr lang="en-US" dirty="0"/>
                  <a:t>High Size → Above 75th percentile GSVA</a:t>
                </a:r>
              </a:p>
              <a:p>
                <a:r>
                  <a:rPr lang="en-US" dirty="0"/>
                  <a:t>Medium Size → Between 25th &amp; 75th percentile</a:t>
                </a:r>
              </a:p>
              <a:p>
                <a:r>
                  <a:rPr lang="en-US" dirty="0"/>
                  <a:t>Low Size → Below 25th percentile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BD2591-3760-0A71-90A6-6A3259CB19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2955" y="1970724"/>
                <a:ext cx="5493525" cy="4023360"/>
              </a:xfrm>
              <a:blipFill>
                <a:blip r:embed="rId2"/>
                <a:stretch>
                  <a:fillRect l="-1221" t="-2121" r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6E1A41-BACA-5FB9-FF58-DB76C59A68F9}"/>
                  </a:ext>
                </a:extLst>
              </p:cNvPr>
              <p:cNvSpPr txBox="1"/>
              <p:nvPr/>
            </p:nvSpPr>
            <p:spPr>
              <a:xfrm>
                <a:off x="6267716" y="1872724"/>
                <a:ext cx="6097978" cy="4219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4. Growth Classification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High Growth → Above 75th percentile growth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Medium Growth → Between 25th &amp; 75th percentile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Low Growth → Below 25th percentile</a:t>
                </a:r>
              </a:p>
              <a:p>
                <a:pPr>
                  <a:buNone/>
                </a:pPr>
                <a:br>
                  <a:rPr lang="en-US" dirty="0"/>
                </a:br>
                <a:endParaRPr lang="en-US" dirty="0"/>
              </a:p>
              <a:p>
                <a:pPr>
                  <a:buNone/>
                </a:pPr>
                <a:r>
                  <a:rPr lang="en-US" b="1" dirty="0"/>
                  <a:t>5. Digital Payment Intensity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/>
                        <m:t>UPI</m:t>
                      </m:r>
                      <m:r>
                        <m:rPr>
                          <m:nor/>
                        </m:rPr>
                        <a:rPr lang="en-US" b="0" i="1"/>
                        <m:t> </m:t>
                      </m:r>
                      <m:r>
                        <m:rPr>
                          <m:nor/>
                        </m:rPr>
                        <a:rPr lang="en-US" b="0" i="1"/>
                        <m:t>Share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State</m:t>
                          </m:r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UPI</m:t>
                          </m:r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Value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National</m:t>
                          </m:r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UPI</m:t>
                          </m:r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Value</m:t>
                          </m:r>
                        </m:den>
                      </m:f>
                      <m:r>
                        <a:rPr lang="ar-AE" b="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endParaRPr lang="en-US" b="1" dirty="0"/>
              </a:p>
              <a:p>
                <a:pPr>
                  <a:buNone/>
                </a:pPr>
                <a:r>
                  <a:rPr lang="en-US" b="1" dirty="0"/>
                  <a:t>6</a:t>
                </a:r>
                <a:r>
                  <a:rPr lang="ar-AE" b="1" dirty="0"/>
                  <a:t> </a:t>
                </a:r>
                <a:r>
                  <a:rPr lang="en-US" b="1" dirty="0"/>
                  <a:t>.Final State Classification</a:t>
                </a:r>
              </a:p>
              <a:p>
                <a:pPr>
                  <a:buNone/>
                </a:pPr>
                <a:r>
                  <a:rPr lang="en-US" dirty="0"/>
                  <a:t>Using below factors: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Retail Size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Retail Growth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UPI Share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6E1A41-BACA-5FB9-FF58-DB76C59A6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716" y="1872724"/>
                <a:ext cx="6097978" cy="4219360"/>
              </a:xfrm>
              <a:prstGeom prst="rect">
                <a:avLst/>
              </a:prstGeom>
              <a:blipFill>
                <a:blip r:embed="rId3"/>
                <a:stretch>
                  <a:fillRect l="-800" t="-723" b="-14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799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77E7C-F4F6-9E9B-65A3-151F0CC78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GSVA Trends Across States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48609D8-26C1-BF37-7D88-737155A447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9600404"/>
              </p:ext>
            </p:extLst>
          </p:nvPr>
        </p:nvGraphicFramePr>
        <p:xfrm>
          <a:off x="242134" y="2111611"/>
          <a:ext cx="5685020" cy="3059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BC81177-5C87-AA33-E45E-92AF50CA7E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7596103"/>
              </p:ext>
            </p:extLst>
          </p:nvPr>
        </p:nvGraphicFramePr>
        <p:xfrm>
          <a:off x="5854791" y="2111611"/>
          <a:ext cx="6015963" cy="3322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283BC07-CC20-56BD-2364-068C43DF2341}"/>
              </a:ext>
            </a:extLst>
          </p:cNvPr>
          <p:cNvCxnSpPr>
            <a:cxnSpLocks/>
          </p:cNvCxnSpPr>
          <p:nvPr/>
        </p:nvCxnSpPr>
        <p:spPr>
          <a:xfrm>
            <a:off x="5927154" y="1737360"/>
            <a:ext cx="0" cy="4571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405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65763-27DC-9AC8-7692-74D241B9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UPI Growth Trend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A309A20-76FE-56AA-C755-0B38B19B25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863294"/>
              </p:ext>
            </p:extLst>
          </p:nvPr>
        </p:nvGraphicFramePr>
        <p:xfrm>
          <a:off x="115342" y="2243198"/>
          <a:ext cx="6190805" cy="2795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7341D57-C792-8891-5807-0204CEA797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1058023"/>
              </p:ext>
            </p:extLst>
          </p:nvPr>
        </p:nvGraphicFramePr>
        <p:xfrm>
          <a:off x="6242918" y="2243198"/>
          <a:ext cx="5762694" cy="2953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899687-5F51-9022-BA5A-7B468A24537E}"/>
              </a:ext>
            </a:extLst>
          </p:cNvPr>
          <p:cNvCxnSpPr/>
          <p:nvPr/>
        </p:nvCxnSpPr>
        <p:spPr>
          <a:xfrm flipV="1">
            <a:off x="6381065" y="1737360"/>
            <a:ext cx="0" cy="45647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368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93A60-59E8-531A-9049-89690F439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79598"/>
            <a:ext cx="10058400" cy="875587"/>
          </a:xfrm>
        </p:spPr>
        <p:txBody>
          <a:bodyPr/>
          <a:lstStyle/>
          <a:p>
            <a:r>
              <a:rPr lang="en-US" dirty="0"/>
              <a:t>State-wise Digital Payment Distribution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E799DC5-FEDA-2119-6B15-7CBCC0725C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408721"/>
              </p:ext>
            </p:extLst>
          </p:nvPr>
        </p:nvGraphicFramePr>
        <p:xfrm>
          <a:off x="2118251" y="621496"/>
          <a:ext cx="7499396" cy="5615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8180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21942-04CF-1EE6-3B2F-B26865A3B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Between UPI &amp; Retail Growth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59D47A-D731-2512-1CD0-FD95323A4BF6}"/>
              </a:ext>
            </a:extLst>
          </p:cNvPr>
          <p:cNvSpPr txBox="1"/>
          <p:nvPr/>
        </p:nvSpPr>
        <p:spPr>
          <a:xfrm>
            <a:off x="402928" y="2231728"/>
            <a:ext cx="536634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Core Growth Engines</a:t>
            </a:r>
          </a:p>
          <a:p>
            <a:pPr>
              <a:buNone/>
            </a:pPr>
            <a:r>
              <a:rPr lang="en-US" dirty="0"/>
              <a:t>Large retail markets with strong growth and high digital payment usage</a:t>
            </a:r>
            <a:br>
              <a:rPr lang="en-US" dirty="0"/>
            </a:br>
            <a:r>
              <a:rPr lang="en-US" b="1" dirty="0"/>
              <a:t>Examples:</a:t>
            </a:r>
            <a:r>
              <a:rPr lang="en-US" dirty="0"/>
              <a:t> Telangana, Gujarat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2. Digitally Mature Markets</a:t>
            </a:r>
          </a:p>
          <a:p>
            <a:pPr>
              <a:buNone/>
            </a:pPr>
            <a:r>
              <a:rPr lang="en-US" dirty="0"/>
              <a:t>Large retail markets where digital payments are already widely adopted but growth is moderate</a:t>
            </a:r>
            <a:br>
              <a:rPr lang="en-US" dirty="0"/>
            </a:br>
            <a:r>
              <a:rPr lang="en-US" b="1" dirty="0"/>
              <a:t>Examples:</a:t>
            </a:r>
            <a:r>
              <a:rPr lang="en-US" dirty="0"/>
              <a:t> Maharashtra, Tamil Nadu, Karnataka, Uttar Pradesh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0094AF-1FFD-38E8-EB39-47B8BC1D420A}"/>
              </a:ext>
            </a:extLst>
          </p:cNvPr>
          <p:cNvSpPr txBox="1"/>
          <p:nvPr/>
        </p:nvSpPr>
        <p:spPr>
          <a:xfrm>
            <a:off x="6096000" y="1981320"/>
            <a:ext cx="569307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3. Emerging Growth Markets</a:t>
            </a:r>
          </a:p>
          <a:p>
            <a:pPr>
              <a:buNone/>
            </a:pPr>
            <a:r>
              <a:rPr lang="en-US" dirty="0"/>
              <a:t>States showing strong retail growth but relatively low digital payment usage</a:t>
            </a:r>
            <a:br>
              <a:rPr lang="en-US" dirty="0"/>
            </a:br>
            <a:r>
              <a:rPr lang="en-US" b="1" dirty="0"/>
              <a:t>Examples:</a:t>
            </a:r>
            <a:r>
              <a:rPr lang="en-US" dirty="0"/>
              <a:t> Jharkhand, Tripura, Meghalaya, Uttarakhand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4. Low Adoption &amp; Low Maturity States</a:t>
            </a:r>
          </a:p>
          <a:p>
            <a:pPr>
              <a:buNone/>
            </a:pPr>
            <a:r>
              <a:rPr lang="en-US" dirty="0"/>
              <a:t>Smaller retail markets with low growth and limited digital payment penetration</a:t>
            </a:r>
            <a:br>
              <a:rPr lang="en-US" dirty="0"/>
            </a:br>
            <a:r>
              <a:rPr lang="en-US" b="1" dirty="0"/>
              <a:t>Examples:</a:t>
            </a:r>
            <a:r>
              <a:rPr lang="en-US" dirty="0"/>
              <a:t> Goa, Nagaland, Puducherry, Manipur</a:t>
            </a:r>
          </a:p>
        </p:txBody>
      </p:sp>
    </p:spTree>
    <p:extLst>
      <p:ext uri="{BB962C8B-B14F-4D97-AF65-F5344CB8AC3E}">
        <p14:creationId xmlns:p14="http://schemas.microsoft.com/office/powerpoint/2010/main" val="1744333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F14F719-2977-F577-892E-242B6CA0D229}"/>
              </a:ext>
            </a:extLst>
          </p:cNvPr>
          <p:cNvSpPr txBox="1">
            <a:spLocks/>
          </p:cNvSpPr>
          <p:nvPr/>
        </p:nvSpPr>
        <p:spPr>
          <a:xfrm>
            <a:off x="1767675" y="256229"/>
            <a:ext cx="8017994" cy="8755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Conclusion &amp; Recommendations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27043C-2CA4-9146-03D7-F68DEA8EFF31}"/>
              </a:ext>
            </a:extLst>
          </p:cNvPr>
          <p:cNvSpPr txBox="1"/>
          <p:nvPr/>
        </p:nvSpPr>
        <p:spPr>
          <a:xfrm>
            <a:off x="1442317" y="1295948"/>
            <a:ext cx="866871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u="sng" dirty="0"/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Retail GSVA growth exists across states both before and after UPI adoption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UPI usage is concentrated in economically larger states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consistent relationship between UPI transaction share and retail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Digital payments improve efficiency and formalization, not primary growth driver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i="1" u="sng" dirty="0"/>
              <a:t>Recommendations</a:t>
            </a:r>
          </a:p>
          <a:p>
            <a:pPr>
              <a:buNone/>
            </a:pPr>
            <a:r>
              <a:rPr lang="en-US" b="1" dirty="0"/>
              <a:t>For Emerging Growth States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Promote merchant onboarding and QR acceptance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Digital payment awareness for small retailers</a:t>
            </a:r>
          </a:p>
          <a:p>
            <a:pPr>
              <a:buNone/>
            </a:pPr>
            <a:r>
              <a:rPr lang="en-US" b="1" dirty="0"/>
              <a:t>For Low Adoption States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digital infrastructure and connectivity first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Gradual payment adoption instead of aggressive rollout</a:t>
            </a:r>
          </a:p>
          <a:p>
            <a:pPr>
              <a:buNone/>
            </a:pPr>
            <a:r>
              <a:rPr lang="en-US" b="1" dirty="0"/>
              <a:t>For Mature Markets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on value-added digital services (credit, analytics, loyalty)</a:t>
            </a:r>
          </a:p>
        </p:txBody>
      </p:sp>
    </p:spTree>
    <p:extLst>
      <p:ext uri="{BB962C8B-B14F-4D97-AF65-F5344CB8AC3E}">
        <p14:creationId xmlns:p14="http://schemas.microsoft.com/office/powerpoint/2010/main" val="314781261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298</TotalTime>
  <Words>702</Words>
  <Application>Microsoft Office PowerPoint</Application>
  <PresentationFormat>Widescreen</PresentationFormat>
  <Paragraphs>137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Retrospect</vt:lpstr>
      <vt:lpstr>Digital Payment Adoption &amp; Retail Sector Growth: State Level UPI Analysis</vt:lpstr>
      <vt:lpstr>BACKGROUND OF THE PROBLEM</vt:lpstr>
      <vt:lpstr>Data Sources &amp; Dataset Structure</vt:lpstr>
      <vt:lpstr>Descriptive Statistics</vt:lpstr>
      <vt:lpstr>Methodology</vt:lpstr>
      <vt:lpstr>Retail GSVA Trends Across States</vt:lpstr>
      <vt:lpstr>UPI Growth Trend</vt:lpstr>
      <vt:lpstr>State-wise Digital Payment Distribution</vt:lpstr>
      <vt:lpstr>Relationship Between UPI &amp; Retail Growth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Sachin Kujur</dc:creator>
  <cp:lastModifiedBy>Aman Sachin Kujur</cp:lastModifiedBy>
  <cp:revision>4</cp:revision>
  <dcterms:created xsi:type="dcterms:W3CDTF">2026-02-21T18:38:12Z</dcterms:created>
  <dcterms:modified xsi:type="dcterms:W3CDTF">2026-02-22T05:05:47Z</dcterms:modified>
</cp:coreProperties>
</file>